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70" r:id="rId7"/>
    <p:sldId id="296" r:id="rId8"/>
    <p:sldId id="300" r:id="rId9"/>
    <p:sldId id="284" r:id="rId10"/>
    <p:sldId id="287" r:id="rId11"/>
    <p:sldId id="286" r:id="rId12"/>
    <p:sldId id="290" r:id="rId13"/>
    <p:sldId id="277" r:id="rId14"/>
    <p:sldId id="278" r:id="rId15"/>
    <p:sldId id="297" r:id="rId16"/>
    <p:sldId id="279" r:id="rId17"/>
    <p:sldId id="280" r:id="rId18"/>
    <p:sldId id="294" r:id="rId19"/>
    <p:sldId id="274" r:id="rId20"/>
    <p:sldId id="299" r:id="rId21"/>
    <p:sldId id="298" r:id="rId22"/>
  </p:sldIdLst>
  <p:sldSz cx="12192000" cy="6858000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FF00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6394A6-F7B6-435C-BF02-8D1CC156A92C}" v="10" dt="2025-09-28T07:47:36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52" d="100"/>
          <a:sy n="52" d="100"/>
        </p:scale>
        <p:origin x="1228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D1EC2E-A2C3-864B-A077-C76D88525857}" type="doc">
      <dgm:prSet loTypeId="urn:microsoft.com/office/officeart/2005/8/layout/cycle1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2C0F90CD-C990-E041-8107-576EFD3C5FCD}">
      <dgm:prSet phldrT="[Testo]" custT="1"/>
      <dgm:spPr/>
      <dgm:t>
        <a:bodyPr/>
        <a:lstStyle/>
        <a:p>
          <a:r>
            <a:rPr lang="it-IT" sz="2400" dirty="0"/>
            <a:t>Design</a:t>
          </a:r>
        </a:p>
      </dgm:t>
    </dgm:pt>
    <dgm:pt modelId="{5013406B-777B-6744-AAF7-F2C5589C9430}" type="parTrans" cxnId="{878722A0-027F-F14E-B1C0-1E4E08294F1D}">
      <dgm:prSet/>
      <dgm:spPr/>
      <dgm:t>
        <a:bodyPr/>
        <a:lstStyle/>
        <a:p>
          <a:endParaRPr lang="it-IT" sz="2000"/>
        </a:p>
      </dgm:t>
    </dgm:pt>
    <dgm:pt modelId="{B72702A0-C5D6-3E46-8C4A-5BE3A249AC17}" type="sibTrans" cxnId="{878722A0-027F-F14E-B1C0-1E4E08294F1D}">
      <dgm:prSet/>
      <dgm:spPr>
        <a:solidFill>
          <a:schemeClr val="tx1">
            <a:lumMod val="75000"/>
          </a:schemeClr>
        </a:solidFill>
      </dgm:spPr>
      <dgm:t>
        <a:bodyPr/>
        <a:lstStyle/>
        <a:p>
          <a:endParaRPr lang="it-IT" sz="2000"/>
        </a:p>
      </dgm:t>
    </dgm:pt>
    <dgm:pt modelId="{29BA06C7-32AE-664C-AFFC-95CEBA112FE4}">
      <dgm:prSet phldrT="[Testo]" custT="1"/>
      <dgm:spPr/>
      <dgm:t>
        <a:bodyPr/>
        <a:lstStyle/>
        <a:p>
          <a:r>
            <a:rPr lang="it-IT" sz="2400" dirty="0" err="1"/>
            <a:t>Implementation</a:t>
          </a:r>
          <a:endParaRPr lang="it-IT" sz="2400" dirty="0"/>
        </a:p>
      </dgm:t>
    </dgm:pt>
    <dgm:pt modelId="{7D1B1DFA-C917-7C43-B919-BDF3F1E0E74A}" type="parTrans" cxnId="{F531F163-12C7-D643-BEDB-3511A7374264}">
      <dgm:prSet/>
      <dgm:spPr/>
      <dgm:t>
        <a:bodyPr/>
        <a:lstStyle/>
        <a:p>
          <a:endParaRPr lang="it-IT" sz="2000"/>
        </a:p>
      </dgm:t>
    </dgm:pt>
    <dgm:pt modelId="{96F5E1D7-FAC2-4C46-9D7F-2953BB3465A0}" type="sibTrans" cxnId="{F531F163-12C7-D643-BEDB-3511A7374264}">
      <dgm:prSet/>
      <dgm:spPr>
        <a:solidFill>
          <a:schemeClr val="tx1">
            <a:lumMod val="75000"/>
          </a:schemeClr>
        </a:solidFill>
      </dgm:spPr>
      <dgm:t>
        <a:bodyPr/>
        <a:lstStyle/>
        <a:p>
          <a:endParaRPr lang="it-IT" sz="2000"/>
        </a:p>
      </dgm:t>
    </dgm:pt>
    <dgm:pt modelId="{3D1D51CA-284E-784C-80B5-E7831334F869}">
      <dgm:prSet phldrT="[Testo]" custT="1"/>
      <dgm:spPr/>
      <dgm:t>
        <a:bodyPr/>
        <a:lstStyle/>
        <a:p>
          <a:r>
            <a:rPr lang="it-IT" sz="2400" dirty="0"/>
            <a:t>Evaluation</a:t>
          </a:r>
        </a:p>
      </dgm:t>
    </dgm:pt>
    <dgm:pt modelId="{24242E92-8BDF-7744-85A8-84355EA7C43E}" type="parTrans" cxnId="{09B8D065-5782-8149-9991-3B8E1E37AE9B}">
      <dgm:prSet/>
      <dgm:spPr/>
      <dgm:t>
        <a:bodyPr/>
        <a:lstStyle/>
        <a:p>
          <a:endParaRPr lang="it-IT" sz="2000"/>
        </a:p>
      </dgm:t>
    </dgm:pt>
    <dgm:pt modelId="{6089F05A-E1F3-0442-BE25-9FDA7FA04195}" type="sibTrans" cxnId="{09B8D065-5782-8149-9991-3B8E1E37AE9B}">
      <dgm:prSet/>
      <dgm:spPr>
        <a:solidFill>
          <a:schemeClr val="tx1">
            <a:lumMod val="75000"/>
          </a:schemeClr>
        </a:solidFill>
      </dgm:spPr>
      <dgm:t>
        <a:bodyPr/>
        <a:lstStyle/>
        <a:p>
          <a:endParaRPr lang="it-IT" sz="2000"/>
        </a:p>
      </dgm:t>
    </dgm:pt>
    <dgm:pt modelId="{5468DB0A-5A4E-7E49-9871-648977F3CCB1}" type="pres">
      <dgm:prSet presAssocID="{0ED1EC2E-A2C3-864B-A077-C76D88525857}" presName="cycle" presStyleCnt="0">
        <dgm:presLayoutVars>
          <dgm:dir/>
          <dgm:resizeHandles val="exact"/>
        </dgm:presLayoutVars>
      </dgm:prSet>
      <dgm:spPr/>
    </dgm:pt>
    <dgm:pt modelId="{3408FE5D-89D6-744A-BCEE-B2F5B0225E1E}" type="pres">
      <dgm:prSet presAssocID="{2C0F90CD-C990-E041-8107-576EFD3C5FCD}" presName="dummy" presStyleCnt="0"/>
      <dgm:spPr/>
    </dgm:pt>
    <dgm:pt modelId="{1FFD25FF-0B66-AE4E-B5C0-F71BA011A742}" type="pres">
      <dgm:prSet presAssocID="{2C0F90CD-C990-E041-8107-576EFD3C5FCD}" presName="node" presStyleLbl="revTx" presStyleIdx="0" presStyleCnt="3">
        <dgm:presLayoutVars>
          <dgm:bulletEnabled val="1"/>
        </dgm:presLayoutVars>
      </dgm:prSet>
      <dgm:spPr/>
    </dgm:pt>
    <dgm:pt modelId="{92A714E9-2A74-2B43-B90A-B3F97457D003}" type="pres">
      <dgm:prSet presAssocID="{B72702A0-C5D6-3E46-8C4A-5BE3A249AC17}" presName="sibTrans" presStyleLbl="node1" presStyleIdx="0" presStyleCnt="3" custScaleX="91195" custLinFactNeighborX="-1957" custLinFactNeighborY="-11372"/>
      <dgm:spPr/>
    </dgm:pt>
    <dgm:pt modelId="{FC8D4DA4-C51E-9A47-A0FA-CF1581E340EC}" type="pres">
      <dgm:prSet presAssocID="{29BA06C7-32AE-664C-AFFC-95CEBA112FE4}" presName="dummy" presStyleCnt="0"/>
      <dgm:spPr/>
    </dgm:pt>
    <dgm:pt modelId="{C93263C2-807B-994D-92D6-979D46C0006A}" type="pres">
      <dgm:prSet presAssocID="{29BA06C7-32AE-664C-AFFC-95CEBA112FE4}" presName="node" presStyleLbl="revTx" presStyleIdx="1" presStyleCnt="3" custScaleX="103453" custScaleY="59359" custRadScaleRad="94393" custRadScaleInc="0">
        <dgm:presLayoutVars>
          <dgm:bulletEnabled val="1"/>
        </dgm:presLayoutVars>
      </dgm:prSet>
      <dgm:spPr/>
    </dgm:pt>
    <dgm:pt modelId="{BC539ADC-794A-8E4F-9429-8E419E5127A1}" type="pres">
      <dgm:prSet presAssocID="{96F5E1D7-FAC2-4C46-9D7F-2953BB3465A0}" presName="sibTrans" presStyleLbl="node1" presStyleIdx="1" presStyleCnt="3" custLinFactNeighborX="3872" custLinFactNeighborY="-11372"/>
      <dgm:spPr/>
    </dgm:pt>
    <dgm:pt modelId="{484996FD-3F53-6D42-90D7-DF9E6C3FF0F7}" type="pres">
      <dgm:prSet presAssocID="{3D1D51CA-284E-784C-80B5-E7831334F869}" presName="dummy" presStyleCnt="0"/>
      <dgm:spPr/>
    </dgm:pt>
    <dgm:pt modelId="{B38EFA57-3B2E-5742-BDED-8DE0F3F44F2C}" type="pres">
      <dgm:prSet presAssocID="{3D1D51CA-284E-784C-80B5-E7831334F869}" presName="node" presStyleLbl="revTx" presStyleIdx="2" presStyleCnt="3">
        <dgm:presLayoutVars>
          <dgm:bulletEnabled val="1"/>
        </dgm:presLayoutVars>
      </dgm:prSet>
      <dgm:spPr/>
    </dgm:pt>
    <dgm:pt modelId="{F1AFB760-36CD-0144-A815-525AD1155995}" type="pres">
      <dgm:prSet presAssocID="{6089F05A-E1F3-0442-BE25-9FDA7FA04195}" presName="sibTrans" presStyleLbl="node1" presStyleIdx="2" presStyleCnt="3" custLinFactNeighborX="3872" custLinFactNeighborY="7533"/>
      <dgm:spPr/>
    </dgm:pt>
  </dgm:ptLst>
  <dgm:cxnLst>
    <dgm:cxn modelId="{F531F163-12C7-D643-BEDB-3511A7374264}" srcId="{0ED1EC2E-A2C3-864B-A077-C76D88525857}" destId="{29BA06C7-32AE-664C-AFFC-95CEBA112FE4}" srcOrd="1" destOrd="0" parTransId="{7D1B1DFA-C917-7C43-B919-BDF3F1E0E74A}" sibTransId="{96F5E1D7-FAC2-4C46-9D7F-2953BB3465A0}"/>
    <dgm:cxn modelId="{09B8D065-5782-8149-9991-3B8E1E37AE9B}" srcId="{0ED1EC2E-A2C3-864B-A077-C76D88525857}" destId="{3D1D51CA-284E-784C-80B5-E7831334F869}" srcOrd="2" destOrd="0" parTransId="{24242E92-8BDF-7744-85A8-84355EA7C43E}" sibTransId="{6089F05A-E1F3-0442-BE25-9FDA7FA04195}"/>
    <dgm:cxn modelId="{2053C676-4C33-8C4E-9098-5F248BEF1700}" type="presOf" srcId="{6089F05A-E1F3-0442-BE25-9FDA7FA04195}" destId="{F1AFB760-36CD-0144-A815-525AD1155995}" srcOrd="0" destOrd="0" presId="urn:microsoft.com/office/officeart/2005/8/layout/cycle1"/>
    <dgm:cxn modelId="{B1B8E056-B3C4-9443-BF20-E9E003A027D2}" type="presOf" srcId="{96F5E1D7-FAC2-4C46-9D7F-2953BB3465A0}" destId="{BC539ADC-794A-8E4F-9429-8E419E5127A1}" srcOrd="0" destOrd="0" presId="urn:microsoft.com/office/officeart/2005/8/layout/cycle1"/>
    <dgm:cxn modelId="{70AF628F-F532-7C40-B708-9D4E0F4E33EA}" type="presOf" srcId="{0ED1EC2E-A2C3-864B-A077-C76D88525857}" destId="{5468DB0A-5A4E-7E49-9871-648977F3CCB1}" srcOrd="0" destOrd="0" presId="urn:microsoft.com/office/officeart/2005/8/layout/cycle1"/>
    <dgm:cxn modelId="{16FE4B95-F3E5-BF4F-8D83-AFC138033494}" type="presOf" srcId="{2C0F90CD-C990-E041-8107-576EFD3C5FCD}" destId="{1FFD25FF-0B66-AE4E-B5C0-F71BA011A742}" srcOrd="0" destOrd="0" presId="urn:microsoft.com/office/officeart/2005/8/layout/cycle1"/>
    <dgm:cxn modelId="{878722A0-027F-F14E-B1C0-1E4E08294F1D}" srcId="{0ED1EC2E-A2C3-864B-A077-C76D88525857}" destId="{2C0F90CD-C990-E041-8107-576EFD3C5FCD}" srcOrd="0" destOrd="0" parTransId="{5013406B-777B-6744-AAF7-F2C5589C9430}" sibTransId="{B72702A0-C5D6-3E46-8C4A-5BE3A249AC17}"/>
    <dgm:cxn modelId="{6EE3B8A1-8341-6341-B919-E53E1DFE70EC}" type="presOf" srcId="{3D1D51CA-284E-784C-80B5-E7831334F869}" destId="{B38EFA57-3B2E-5742-BDED-8DE0F3F44F2C}" srcOrd="0" destOrd="0" presId="urn:microsoft.com/office/officeart/2005/8/layout/cycle1"/>
    <dgm:cxn modelId="{FE75DEBC-7DC4-E847-ADB1-B5FC5799E94D}" type="presOf" srcId="{29BA06C7-32AE-664C-AFFC-95CEBA112FE4}" destId="{C93263C2-807B-994D-92D6-979D46C0006A}" srcOrd="0" destOrd="0" presId="urn:microsoft.com/office/officeart/2005/8/layout/cycle1"/>
    <dgm:cxn modelId="{92AFF1ED-3764-1749-9721-D2B4B36C5DA6}" type="presOf" srcId="{B72702A0-C5D6-3E46-8C4A-5BE3A249AC17}" destId="{92A714E9-2A74-2B43-B90A-B3F97457D003}" srcOrd="0" destOrd="0" presId="urn:microsoft.com/office/officeart/2005/8/layout/cycle1"/>
    <dgm:cxn modelId="{41122457-E5FB-AE4E-BF5B-B473E0D1A536}" type="presParOf" srcId="{5468DB0A-5A4E-7E49-9871-648977F3CCB1}" destId="{3408FE5D-89D6-744A-BCEE-B2F5B0225E1E}" srcOrd="0" destOrd="0" presId="urn:microsoft.com/office/officeart/2005/8/layout/cycle1"/>
    <dgm:cxn modelId="{13CDC2BC-915E-4847-B106-EE0A6EE7DE1E}" type="presParOf" srcId="{5468DB0A-5A4E-7E49-9871-648977F3CCB1}" destId="{1FFD25FF-0B66-AE4E-B5C0-F71BA011A742}" srcOrd="1" destOrd="0" presId="urn:microsoft.com/office/officeart/2005/8/layout/cycle1"/>
    <dgm:cxn modelId="{2A9658C8-0AEB-F741-A8F8-7D67C8248327}" type="presParOf" srcId="{5468DB0A-5A4E-7E49-9871-648977F3CCB1}" destId="{92A714E9-2A74-2B43-B90A-B3F97457D003}" srcOrd="2" destOrd="0" presId="urn:microsoft.com/office/officeart/2005/8/layout/cycle1"/>
    <dgm:cxn modelId="{2BB1B890-2E19-D043-A4E6-9555602A506D}" type="presParOf" srcId="{5468DB0A-5A4E-7E49-9871-648977F3CCB1}" destId="{FC8D4DA4-C51E-9A47-A0FA-CF1581E340EC}" srcOrd="3" destOrd="0" presId="urn:microsoft.com/office/officeart/2005/8/layout/cycle1"/>
    <dgm:cxn modelId="{A758B6DA-5E74-3B44-A690-C09C3F01F125}" type="presParOf" srcId="{5468DB0A-5A4E-7E49-9871-648977F3CCB1}" destId="{C93263C2-807B-994D-92D6-979D46C0006A}" srcOrd="4" destOrd="0" presId="urn:microsoft.com/office/officeart/2005/8/layout/cycle1"/>
    <dgm:cxn modelId="{72926A25-855B-A14E-B9DE-BCFF29CA548C}" type="presParOf" srcId="{5468DB0A-5A4E-7E49-9871-648977F3CCB1}" destId="{BC539ADC-794A-8E4F-9429-8E419E5127A1}" srcOrd="5" destOrd="0" presId="urn:microsoft.com/office/officeart/2005/8/layout/cycle1"/>
    <dgm:cxn modelId="{013CE09E-2B9E-734A-A7AA-48757A4ED23C}" type="presParOf" srcId="{5468DB0A-5A4E-7E49-9871-648977F3CCB1}" destId="{484996FD-3F53-6D42-90D7-DF9E6C3FF0F7}" srcOrd="6" destOrd="0" presId="urn:microsoft.com/office/officeart/2005/8/layout/cycle1"/>
    <dgm:cxn modelId="{877E32AA-A231-A342-B9AD-9CF454A147E3}" type="presParOf" srcId="{5468DB0A-5A4E-7E49-9871-648977F3CCB1}" destId="{B38EFA57-3B2E-5742-BDED-8DE0F3F44F2C}" srcOrd="7" destOrd="0" presId="urn:microsoft.com/office/officeart/2005/8/layout/cycle1"/>
    <dgm:cxn modelId="{A9C8C761-6A4A-204E-9472-3E793B0F10CB}" type="presParOf" srcId="{5468DB0A-5A4E-7E49-9871-648977F3CCB1}" destId="{F1AFB760-36CD-0144-A815-525AD1155995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FD25FF-0B66-AE4E-B5C0-F71BA011A742}">
      <dsp:nvSpPr>
        <dsp:cNvPr id="0" name=""/>
        <dsp:cNvSpPr/>
      </dsp:nvSpPr>
      <dsp:spPr>
        <a:xfrm>
          <a:off x="5072088" y="634793"/>
          <a:ext cx="2133891" cy="2133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Design</a:t>
          </a:r>
        </a:p>
      </dsp:txBody>
      <dsp:txXfrm>
        <a:off x="5072088" y="634793"/>
        <a:ext cx="2133891" cy="2133891"/>
      </dsp:txXfrm>
    </dsp:sp>
    <dsp:sp modelId="{92A714E9-2A74-2B43-B90A-B3F97457D003}">
      <dsp:nvSpPr>
        <dsp:cNvPr id="0" name=""/>
        <dsp:cNvSpPr/>
      </dsp:nvSpPr>
      <dsp:spPr>
        <a:xfrm>
          <a:off x="1951311" y="-502634"/>
          <a:ext cx="4602328" cy="5046689"/>
        </a:xfrm>
        <a:prstGeom prst="circularArrow">
          <a:avLst>
            <a:gd name="adj1" fmla="val 8245"/>
            <a:gd name="adj2" fmla="val 575838"/>
            <a:gd name="adj3" fmla="val 2907287"/>
            <a:gd name="adj4" fmla="val 289060"/>
            <a:gd name="adj5" fmla="val 9619"/>
          </a:avLst>
        </a:prstGeom>
        <a:solidFill>
          <a:schemeClr val="tx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3263C2-807B-994D-92D6-979D46C0006A}">
      <dsp:nvSpPr>
        <dsp:cNvPr id="0" name=""/>
        <dsp:cNvSpPr/>
      </dsp:nvSpPr>
      <dsp:spPr>
        <a:xfrm>
          <a:off x="3240356" y="4061042"/>
          <a:ext cx="2207574" cy="1266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 err="1"/>
            <a:t>Implementation</a:t>
          </a:r>
          <a:endParaRPr lang="it-IT" sz="2400" kern="1200" dirty="0"/>
        </a:p>
      </dsp:txBody>
      <dsp:txXfrm>
        <a:off x="3240356" y="4061042"/>
        <a:ext cx="2207574" cy="1266656"/>
      </dsp:txXfrm>
    </dsp:sp>
    <dsp:sp modelId="{BC539ADC-794A-8E4F-9429-8E419E5127A1}">
      <dsp:nvSpPr>
        <dsp:cNvPr id="0" name=""/>
        <dsp:cNvSpPr/>
      </dsp:nvSpPr>
      <dsp:spPr>
        <a:xfrm>
          <a:off x="2009111" y="-502634"/>
          <a:ext cx="5046689" cy="5046689"/>
        </a:xfrm>
        <a:prstGeom prst="circularArrow">
          <a:avLst>
            <a:gd name="adj1" fmla="val 8245"/>
            <a:gd name="adj2" fmla="val 575838"/>
            <a:gd name="adj3" fmla="val 9935102"/>
            <a:gd name="adj4" fmla="val 7316876"/>
            <a:gd name="adj5" fmla="val 9619"/>
          </a:avLst>
        </a:prstGeom>
        <a:solidFill>
          <a:schemeClr val="tx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8EFA57-3B2E-5742-BDED-8DE0F3F44F2C}">
      <dsp:nvSpPr>
        <dsp:cNvPr id="0" name=""/>
        <dsp:cNvSpPr/>
      </dsp:nvSpPr>
      <dsp:spPr>
        <a:xfrm>
          <a:off x="1482308" y="634793"/>
          <a:ext cx="2133891" cy="2133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Evaluation</a:t>
          </a:r>
        </a:p>
      </dsp:txBody>
      <dsp:txXfrm>
        <a:off x="1482308" y="634793"/>
        <a:ext cx="2133891" cy="2133891"/>
      </dsp:txXfrm>
    </dsp:sp>
    <dsp:sp modelId="{F1AFB760-36CD-0144-A815-525AD1155995}">
      <dsp:nvSpPr>
        <dsp:cNvPr id="0" name=""/>
        <dsp:cNvSpPr/>
      </dsp:nvSpPr>
      <dsp:spPr>
        <a:xfrm>
          <a:off x="2016207" y="594841"/>
          <a:ext cx="5046689" cy="5046689"/>
        </a:xfrm>
        <a:prstGeom prst="circularArrow">
          <a:avLst>
            <a:gd name="adj1" fmla="val 8245"/>
            <a:gd name="adj2" fmla="val 575838"/>
            <a:gd name="adj3" fmla="val 16857914"/>
            <a:gd name="adj4" fmla="val 14966248"/>
            <a:gd name="adj5" fmla="val 9619"/>
          </a:avLst>
        </a:prstGeom>
        <a:solidFill>
          <a:schemeClr val="tx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316F24B-2D99-624E-9EB9-DC11D698BF7F}" type="datetimeFigureOut">
              <a:rPr lang="it-IT"/>
              <a:pPr>
                <a:defRPr/>
              </a:pPr>
              <a:t>29/09/2025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742B4C5-732F-CF45-9356-7C4C79500D40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93590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1C89EA0-035B-C544-8BDE-9F6E11ECF18F}" type="slidenum">
              <a:rPr lang="en-US" sz="1100">
                <a:latin typeface="Times" charset="0"/>
              </a:rPr>
              <a:pPr/>
              <a:t>10</a:t>
            </a:fld>
            <a:endParaRPr lang="en-US" sz="1100">
              <a:latin typeface="Times" charset="0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t-IT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D452CF0-6A1F-8242-B5CE-528FF0F8C674}" type="slidenum">
              <a:rPr lang="en-US" sz="1100">
                <a:latin typeface="Times" charset="0"/>
              </a:rPr>
              <a:pPr/>
              <a:t>11</a:t>
            </a:fld>
            <a:endParaRPr lang="en-US" sz="1100">
              <a:latin typeface="Times" charset="0"/>
            </a:endParaRPr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t-IT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5BFEAC9-C0D4-7C48-A6DF-4CC81DDB8818}" type="slidenum">
              <a:rPr lang="en-US" sz="1100">
                <a:latin typeface="Times" charset="0"/>
              </a:rPr>
              <a:pPr/>
              <a:t>13</a:t>
            </a:fld>
            <a:endParaRPr lang="en-US" sz="1100">
              <a:latin typeface="Times" charset="0"/>
            </a:endParaRPr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t-IT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CE8944D-1ED2-ED4F-A761-E11B9B94B44A}" type="slidenum">
              <a:rPr lang="en-US" sz="1100">
                <a:latin typeface="Times" charset="0"/>
              </a:rPr>
              <a:pPr/>
              <a:t>14</a:t>
            </a:fld>
            <a:endParaRPr lang="en-US" sz="1100">
              <a:latin typeface="Times" charset="0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t-IT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CE8944D-1ED2-ED4F-A761-E11B9B94B44A}" type="slidenum">
              <a:rPr lang="en-US" sz="1100">
                <a:latin typeface="Times" charset="0"/>
              </a:rPr>
              <a:pPr/>
              <a:t>15</a:t>
            </a:fld>
            <a:endParaRPr lang="en-US" sz="1100">
              <a:latin typeface="Times" charset="0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t-IT">
              <a:latin typeface="Times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E925BE-7ACC-FB49-ACF5-A5802F45F655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7469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A479D0-A318-D74E-A4BE-765AE268ED8E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867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7C73F7-C8B1-734B-96DE-F0354D00670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395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7FD6CC-F321-DF48-B624-56E67DD6DA46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1316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55BC29-5CCA-9C49-864C-D8AA17960CEB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442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7E8D30-55F3-9349-889A-1336AA0872F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1044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41F94E-9110-0744-9173-3B5DE65BF0B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4983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97B352-0EFB-8841-BF43-C9F3C5230C6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429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CEF7DD-9140-4348-8376-D838C4B4A51E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5247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CBE4C-A017-F54B-BC87-25FAAE56ABE5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736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B0D8D-E134-DD4B-9D3B-CA24565AAE1B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7133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stile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-107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-107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1CE7D59-541C-774B-A319-8D8BF680B78B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270904-ui-design-web-banner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65610" y="116632"/>
            <a:ext cx="10260780" cy="2564210"/>
          </a:xfrm>
        </p:spPr>
        <p:txBody>
          <a:bodyPr/>
          <a:lstStyle/>
          <a:p>
            <a:pPr eaLnBrk="1" hangingPunct="1">
              <a:defRPr/>
            </a:pPr>
            <a:r>
              <a:rPr lang="it-IT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Progettazione dell’Interazione con l’Utente</a:t>
            </a:r>
            <a:br>
              <a:rPr lang="it-IT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</a:br>
            <a:br>
              <a:rPr lang="it-IT" sz="4000" b="1" dirty="0">
                <a:solidFill>
                  <a:srgbClr val="16164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</a:br>
            <a:endParaRPr lang="it-IT" sz="4000" b="1" dirty="0">
              <a:solidFill>
                <a:srgbClr val="008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55840" y="2384900"/>
            <a:ext cx="7272808" cy="307429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it-IT" sz="2400" dirty="0">
              <a:solidFill>
                <a:srgbClr val="161645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it-IT" sz="2400" b="1" dirty="0">
                <a:solidFill>
                  <a:srgbClr val="161645"/>
                </a:solidFill>
                <a:latin typeface="Tahoma" charset="0"/>
                <a:ea typeface="ＭＳ Ｐゴシック" charset="0"/>
                <a:cs typeface="ＭＳ Ｐゴシック" charset="0"/>
              </a:rPr>
              <a:t>Berardina Nadja De Carolis</a:t>
            </a:r>
          </a:p>
          <a:p>
            <a:pPr eaLnBrk="1" hangingPunct="1">
              <a:lnSpc>
                <a:spcPct val="80000"/>
              </a:lnSpc>
            </a:pPr>
            <a:r>
              <a:rPr lang="it-IT" sz="2400" dirty="0">
                <a:solidFill>
                  <a:srgbClr val="161645"/>
                </a:solidFill>
                <a:latin typeface="Tahoma" charset="0"/>
                <a:ea typeface="ＭＳ Ｐゴシック" charset="0"/>
                <a:cs typeface="ＭＳ Ｐゴシック" charset="0"/>
              </a:rPr>
              <a:t>Dipartimento di Informatica – Università di Bari «Aldo Moro»</a:t>
            </a:r>
          </a:p>
          <a:p>
            <a:pPr eaLnBrk="1" hangingPunct="1">
              <a:lnSpc>
                <a:spcPct val="80000"/>
              </a:lnSpc>
            </a:pPr>
            <a:endParaRPr lang="it-IT" sz="2400" dirty="0">
              <a:solidFill>
                <a:srgbClr val="161645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it-IT" sz="2400" dirty="0" err="1">
                <a:solidFill>
                  <a:srgbClr val="161645"/>
                </a:solidFill>
                <a:latin typeface="Tahoma" charset="0"/>
                <a:ea typeface="ＭＳ Ｐゴシック" charset="0"/>
                <a:cs typeface="ＭＳ Ｐゴシック" charset="0"/>
              </a:rPr>
              <a:t>berardina.decarolis@uniba.it</a:t>
            </a:r>
            <a:endParaRPr lang="it-IT" sz="2400" dirty="0">
              <a:solidFill>
                <a:srgbClr val="161645"/>
              </a:solidFill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619B78B-045D-5719-46F2-FC027F3AFB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8188" t="6629" r="129" b="1372"/>
          <a:stretch/>
        </p:blipFill>
        <p:spPr>
          <a:xfrm>
            <a:off x="139397" y="1944910"/>
            <a:ext cx="4242216" cy="39542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4800" b="1" dirty="0">
                <a:solidFill>
                  <a:srgbClr val="16164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Introduzione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effectLst>
            <a:outerShdw blurRad="63500" dist="53882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0" indent="0" eaLnBrk="1" hangingPunct="1">
              <a:lnSpc>
                <a:spcPct val="150000"/>
              </a:lnSpc>
              <a:buClr>
                <a:srgbClr val="FFFF00"/>
              </a:buClr>
              <a:buNone/>
              <a:defRPr/>
            </a:pPr>
            <a:r>
              <a:rPr lang="it-IT" sz="4000" b="1" dirty="0" err="1">
                <a:solidFill>
                  <a:srgbClr val="161645"/>
                </a:solidFill>
                <a:latin typeface="Arial" charset="0"/>
                <a:ea typeface="ＭＳ Ｐゴシック" charset="0"/>
                <a:cs typeface="ＭＳ Ｐゴシック" charset="0"/>
              </a:rPr>
              <a:t>Perche</a:t>
            </a:r>
            <a:r>
              <a:rPr lang="it-IT" sz="4000" b="1" dirty="0">
                <a:solidFill>
                  <a:srgbClr val="161645"/>
                </a:solidFill>
                <a:latin typeface="Arial" charset="0"/>
                <a:ea typeface="ＭＳ Ｐゴシック" charset="0"/>
                <a:cs typeface="ＭＳ Ｐゴシック" charset="0"/>
              </a:rPr>
              <a:t>’ occuparci della progettazione dell’interazione con l’utente?</a:t>
            </a:r>
          </a:p>
          <a:p>
            <a:pPr marL="0" indent="0" eaLnBrk="1" hangingPunct="1">
              <a:lnSpc>
                <a:spcPct val="150000"/>
              </a:lnSpc>
              <a:buClr>
                <a:srgbClr val="FFFF00"/>
              </a:buClr>
              <a:buNone/>
              <a:defRPr/>
            </a:pPr>
            <a:r>
              <a:rPr lang="it-IT" sz="4000" b="1" dirty="0">
                <a:solidFill>
                  <a:srgbClr val="161645"/>
                </a:solidFill>
                <a:latin typeface="Arial" charset="0"/>
                <a:ea typeface="ＭＳ Ｐゴシック" charset="0"/>
                <a:cs typeface="ＭＳ Ｐゴシック" charset="0"/>
              </a:rPr>
              <a:t>-	Il Corso</a:t>
            </a:r>
          </a:p>
          <a:p>
            <a:pPr marL="0" indent="0" eaLnBrk="1" hangingPunct="1">
              <a:lnSpc>
                <a:spcPct val="150000"/>
              </a:lnSpc>
              <a:buClr>
                <a:srgbClr val="FFFF00"/>
              </a:buClr>
              <a:buNone/>
              <a:defRPr/>
            </a:pPr>
            <a:r>
              <a:rPr lang="it-IT" sz="4000" b="1" dirty="0">
                <a:solidFill>
                  <a:srgbClr val="161645"/>
                </a:solidFill>
                <a:latin typeface="Arial" charset="0"/>
                <a:ea typeface="ＭＳ Ｐゴシック" charset="0"/>
                <a:cs typeface="ＭＳ Ｐゴシック" charset="0"/>
              </a:rPr>
              <a:t>-	L’esame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35360" y="228600"/>
            <a:ext cx="11305256" cy="7620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rgbClr val="FFFF00"/>
              </a:buClr>
              <a:defRPr/>
            </a:pPr>
            <a:r>
              <a:rPr lang="it-IT" sz="3600" b="1" dirty="0" err="1">
                <a:solidFill>
                  <a:srgbClr val="161645"/>
                </a:solidFill>
                <a:latin typeface="Arial" charset="0"/>
                <a:ea typeface="ＭＳ Ｐゴシック" charset="0"/>
                <a:cs typeface="ＭＳ Ｐゴシック" charset="0"/>
              </a:rPr>
              <a:t>Perche</a:t>
            </a:r>
            <a:r>
              <a:rPr lang="it-IT" sz="3600" b="1" dirty="0">
                <a:solidFill>
                  <a:srgbClr val="161645"/>
                </a:solidFill>
                <a:latin typeface="Arial" charset="0"/>
                <a:ea typeface="ＭＳ Ｐゴシック" charset="0"/>
                <a:cs typeface="ＭＳ Ｐゴシック" charset="0"/>
              </a:rPr>
              <a:t>’ occuparci della progettazione dell’interazione con l’utente?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5360" y="1844824"/>
            <a:ext cx="11305256" cy="4868862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None/>
              <a:defRPr/>
            </a:pPr>
            <a:r>
              <a:rPr lang="en-US" b="1" i="0" dirty="0">
                <a:solidFill>
                  <a:srgbClr val="363939"/>
                </a:solidFill>
                <a:effectLst/>
                <a:latin typeface="Vollkorn"/>
              </a:rPr>
              <a:t>Interaction Design </a:t>
            </a:r>
            <a:r>
              <a:rPr lang="en-US" b="0" i="0" dirty="0" err="1">
                <a:solidFill>
                  <a:srgbClr val="363939"/>
                </a:solidFill>
                <a:effectLst/>
                <a:latin typeface="Vollkorn"/>
              </a:rPr>
              <a:t>determina</a:t>
            </a:r>
            <a:r>
              <a:rPr lang="en-US" b="0" i="0" dirty="0">
                <a:solidFill>
                  <a:srgbClr val="363939"/>
                </a:solidFill>
                <a:effectLst/>
                <a:latin typeface="Vollkorn"/>
              </a:rPr>
              <a:t>: </a:t>
            </a:r>
          </a:p>
          <a:p>
            <a:pPr algn="just" eaLnBrk="1" hangingPunct="1">
              <a:lnSpc>
                <a:spcPct val="110000"/>
              </a:lnSpc>
              <a:defRPr/>
            </a:pPr>
            <a:r>
              <a:rPr lang="en-US" b="0" i="0" dirty="0">
                <a:solidFill>
                  <a:srgbClr val="363939"/>
                </a:solidFill>
                <a:effectLst/>
                <a:latin typeface="Vollkorn"/>
              </a:rPr>
              <a:t>come le </a:t>
            </a:r>
            <a:r>
              <a:rPr lang="en-US" b="0" i="0" dirty="0" err="1">
                <a:solidFill>
                  <a:srgbClr val="363939"/>
                </a:solidFill>
                <a:effectLst/>
                <a:latin typeface="Vollkorn"/>
              </a:rPr>
              <a:t>persone</a:t>
            </a:r>
            <a:r>
              <a:rPr lang="en-US" b="0" i="0" dirty="0">
                <a:solidFill>
                  <a:srgbClr val="363939"/>
                </a:solidFill>
                <a:effectLst/>
                <a:latin typeface="Vollkorn"/>
              </a:rPr>
              <a:t> </a:t>
            </a:r>
            <a:r>
              <a:rPr lang="en-US" b="0" i="0" dirty="0" err="1">
                <a:solidFill>
                  <a:srgbClr val="363939"/>
                </a:solidFill>
                <a:effectLst/>
                <a:latin typeface="Vollkorn"/>
              </a:rPr>
              <a:t>interagiscono</a:t>
            </a:r>
            <a:r>
              <a:rPr lang="en-US" b="0" i="0" dirty="0">
                <a:solidFill>
                  <a:srgbClr val="363939"/>
                </a:solidFill>
                <a:effectLst/>
                <a:latin typeface="Vollkorn"/>
              </a:rPr>
              <a:t> con le </a:t>
            </a:r>
            <a:r>
              <a:rPr lang="en-US" b="0" i="0" dirty="0" err="1">
                <a:solidFill>
                  <a:srgbClr val="363939"/>
                </a:solidFill>
                <a:effectLst/>
                <a:latin typeface="Vollkorn"/>
              </a:rPr>
              <a:t>macchine</a:t>
            </a:r>
            <a:r>
              <a:rPr lang="en-US" b="0" i="0" dirty="0">
                <a:solidFill>
                  <a:srgbClr val="363939"/>
                </a:solidFill>
                <a:effectLst/>
                <a:latin typeface="Vollkorn"/>
              </a:rPr>
              <a:t>, le </a:t>
            </a:r>
            <a:r>
              <a:rPr lang="en-US" b="0" i="0" dirty="0" err="1">
                <a:solidFill>
                  <a:srgbClr val="363939"/>
                </a:solidFill>
                <a:effectLst/>
                <a:latin typeface="Vollkorn"/>
              </a:rPr>
              <a:t>applicazioni</a:t>
            </a:r>
            <a:r>
              <a:rPr lang="en-US" b="0" i="0" dirty="0">
                <a:solidFill>
                  <a:srgbClr val="363939"/>
                </a:solidFill>
                <a:effectLst/>
                <a:latin typeface="Vollkorn"/>
              </a:rPr>
              <a:t>, communication services …</a:t>
            </a:r>
          </a:p>
          <a:p>
            <a:pPr algn="just" eaLnBrk="1" hangingPunct="1">
              <a:lnSpc>
                <a:spcPct val="110000"/>
              </a:lnSpc>
              <a:defRPr/>
            </a:pPr>
            <a:r>
              <a:rPr lang="en-US" dirty="0">
                <a:solidFill>
                  <a:srgbClr val="363939"/>
                </a:solidFill>
                <a:latin typeface="Vollkorn"/>
              </a:rPr>
              <a:t>il </a:t>
            </a:r>
            <a:r>
              <a:rPr lang="en-US" dirty="0" err="1">
                <a:solidFill>
                  <a:srgbClr val="363939"/>
                </a:solidFill>
                <a:latin typeface="Vollkorn"/>
              </a:rPr>
              <a:t>valore</a:t>
            </a:r>
            <a:r>
              <a:rPr lang="en-US" dirty="0">
                <a:solidFill>
                  <a:srgbClr val="363939"/>
                </a:solidFill>
                <a:latin typeface="Vollkorn"/>
              </a:rPr>
              <a:t> e la </a:t>
            </a:r>
            <a:r>
              <a:rPr lang="en-US" dirty="0" err="1">
                <a:solidFill>
                  <a:srgbClr val="363939"/>
                </a:solidFill>
                <a:latin typeface="Vollkorn"/>
              </a:rPr>
              <a:t>qualità</a:t>
            </a:r>
            <a:r>
              <a:rPr lang="en-US" dirty="0">
                <a:solidFill>
                  <a:srgbClr val="363939"/>
                </a:solidFill>
                <a:latin typeface="Vollkorn"/>
              </a:rPr>
              <a:t> </a:t>
            </a:r>
            <a:r>
              <a:rPr lang="en-US" dirty="0" err="1">
                <a:solidFill>
                  <a:srgbClr val="363939"/>
                </a:solidFill>
                <a:latin typeface="Vollkorn"/>
              </a:rPr>
              <a:t>dell’esperienza</a:t>
            </a:r>
            <a:r>
              <a:rPr lang="en-US" dirty="0">
                <a:solidFill>
                  <a:srgbClr val="363939"/>
                </a:solidFill>
                <a:latin typeface="Vollkorn"/>
              </a:rPr>
              <a:t> </a:t>
            </a:r>
            <a:r>
              <a:rPr lang="en-US" dirty="0" err="1">
                <a:solidFill>
                  <a:srgbClr val="363939"/>
                </a:solidFill>
                <a:latin typeface="Vollkorn"/>
              </a:rPr>
              <a:t>degli</a:t>
            </a:r>
            <a:r>
              <a:rPr lang="en-US" dirty="0">
                <a:solidFill>
                  <a:srgbClr val="363939"/>
                </a:solidFill>
                <a:latin typeface="Vollkorn"/>
              </a:rPr>
              <a:t> </a:t>
            </a:r>
            <a:r>
              <a:rPr lang="en-US" dirty="0" err="1">
                <a:solidFill>
                  <a:srgbClr val="363939"/>
                </a:solidFill>
                <a:latin typeface="Vollkorn"/>
              </a:rPr>
              <a:t>utenti</a:t>
            </a:r>
            <a:endParaRPr lang="en-US" dirty="0">
              <a:solidFill>
                <a:srgbClr val="363939"/>
              </a:solidFill>
              <a:latin typeface="Vollkorn"/>
            </a:endParaRPr>
          </a:p>
          <a:p>
            <a:pPr algn="just" eaLnBrk="1" hangingPunct="1">
              <a:lnSpc>
                <a:spcPct val="110000"/>
              </a:lnSpc>
              <a:defRPr/>
            </a:pPr>
            <a:r>
              <a:rPr lang="en-US" dirty="0">
                <a:solidFill>
                  <a:srgbClr val="363939"/>
                </a:solidFill>
                <a:latin typeface="Vollkorn"/>
              </a:rPr>
              <a:t>i</a:t>
            </a:r>
            <a:r>
              <a:rPr lang="en-US" b="0" i="0" dirty="0">
                <a:solidFill>
                  <a:srgbClr val="363939"/>
                </a:solidFill>
                <a:effectLst/>
                <a:latin typeface="Vollkorn"/>
              </a:rPr>
              <a:t>l </a:t>
            </a:r>
            <a:r>
              <a:rPr lang="en-US" b="0" i="0" dirty="0" err="1">
                <a:solidFill>
                  <a:srgbClr val="363939"/>
                </a:solidFill>
                <a:effectLst/>
                <a:latin typeface="Vollkorn"/>
              </a:rPr>
              <a:t>successo</a:t>
            </a:r>
            <a:r>
              <a:rPr lang="en-US" b="0" i="0" dirty="0">
                <a:solidFill>
                  <a:srgbClr val="363939"/>
                </a:solidFill>
                <a:effectLst/>
                <a:latin typeface="Vollkorn"/>
              </a:rPr>
              <a:t> di un </a:t>
            </a:r>
            <a:r>
              <a:rPr lang="en-US" b="0" i="0" dirty="0" err="1">
                <a:solidFill>
                  <a:srgbClr val="363939"/>
                </a:solidFill>
                <a:effectLst/>
                <a:latin typeface="Vollkorn"/>
              </a:rPr>
              <a:t>prodotto</a:t>
            </a:r>
            <a:r>
              <a:rPr lang="en-US" b="0" i="0" dirty="0">
                <a:solidFill>
                  <a:srgbClr val="363939"/>
                </a:solidFill>
                <a:effectLst/>
                <a:latin typeface="Vollkorn"/>
              </a:rPr>
              <a:t> </a:t>
            </a:r>
            <a:r>
              <a:rPr lang="en-US" b="0" i="0" dirty="0" err="1">
                <a:solidFill>
                  <a:srgbClr val="363939"/>
                </a:solidFill>
                <a:effectLst/>
                <a:latin typeface="Vollkorn"/>
              </a:rPr>
              <a:t>interattivo</a:t>
            </a:r>
            <a:endParaRPr lang="en-US" b="0" i="0" dirty="0">
              <a:solidFill>
                <a:srgbClr val="363939"/>
              </a:solidFill>
              <a:effectLst/>
              <a:latin typeface="Vollkorn"/>
            </a:endParaRPr>
          </a:p>
          <a:p>
            <a:pPr algn="just" eaLnBrk="1" hangingPunct="1">
              <a:lnSpc>
                <a:spcPct val="110000"/>
              </a:lnSpc>
              <a:defRPr/>
            </a:pPr>
            <a:endParaRPr lang="en-US" b="0" i="0" dirty="0">
              <a:solidFill>
                <a:srgbClr val="363939"/>
              </a:solidFill>
              <a:effectLst/>
              <a:latin typeface="Vollkorn"/>
            </a:endParaRPr>
          </a:p>
          <a:p>
            <a:pPr marL="0" indent="0" algn="ctr" eaLnBrk="1" hangingPunct="1">
              <a:lnSpc>
                <a:spcPct val="110000"/>
              </a:lnSpc>
              <a:buNone/>
              <a:defRPr/>
            </a:pPr>
            <a:r>
              <a:rPr lang="it-IT" b="1" dirty="0">
                <a:solidFill>
                  <a:srgbClr val="363939"/>
                </a:solidFill>
                <a:latin typeface="Vollkorn"/>
              </a:rPr>
              <a:t>U</a:t>
            </a:r>
            <a:r>
              <a:rPr lang="it-IT" b="1" i="0" dirty="0">
                <a:solidFill>
                  <a:srgbClr val="363939"/>
                </a:solidFill>
                <a:effectLst/>
                <a:latin typeface="Vollkorn"/>
              </a:rPr>
              <a:t>na tecnologia </a:t>
            </a:r>
            <a:r>
              <a:rPr lang="it-IT" b="1" i="0" dirty="0" err="1">
                <a:solidFill>
                  <a:srgbClr val="363939"/>
                </a:solidFill>
                <a:effectLst/>
                <a:latin typeface="Vollkorn"/>
              </a:rPr>
              <a:t>e'</a:t>
            </a:r>
            <a:r>
              <a:rPr lang="it-IT" b="1" i="0" dirty="0">
                <a:solidFill>
                  <a:srgbClr val="363939"/>
                </a:solidFill>
                <a:effectLst/>
                <a:latin typeface="Vollkorn"/>
              </a:rPr>
              <a:t> di successo se </a:t>
            </a:r>
            <a:r>
              <a:rPr lang="it-IT" b="1" i="0" dirty="0" err="1">
                <a:solidFill>
                  <a:srgbClr val="363939"/>
                </a:solidFill>
                <a:effectLst/>
                <a:latin typeface="Vollkorn"/>
              </a:rPr>
              <a:t>c'e'</a:t>
            </a:r>
            <a:r>
              <a:rPr lang="it-IT" b="1" i="0" dirty="0">
                <a:solidFill>
                  <a:srgbClr val="363939"/>
                </a:solidFill>
                <a:effectLst/>
                <a:latin typeface="Vollkorn"/>
              </a:rPr>
              <a:t> qualcuno disposto ad usarla</a:t>
            </a:r>
            <a:endParaRPr lang="en-US" b="1" i="0" dirty="0">
              <a:solidFill>
                <a:srgbClr val="363939"/>
              </a:solidFill>
              <a:effectLst/>
              <a:latin typeface="Vollkor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35360" y="228600"/>
            <a:ext cx="11305256" cy="7620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rgbClr val="FFFF00"/>
              </a:buClr>
              <a:defRPr/>
            </a:pPr>
            <a:r>
              <a:rPr lang="it-IT" sz="3600" b="1" dirty="0" err="1">
                <a:solidFill>
                  <a:srgbClr val="161645"/>
                </a:solidFill>
                <a:latin typeface="Arial" charset="0"/>
                <a:ea typeface="ＭＳ Ｐゴシック" charset="0"/>
                <a:cs typeface="ＭＳ Ｐゴシック" charset="0"/>
              </a:rPr>
              <a:t>Perche</a:t>
            </a:r>
            <a:r>
              <a:rPr lang="it-IT" sz="3600" b="1" dirty="0">
                <a:solidFill>
                  <a:srgbClr val="161645"/>
                </a:solidFill>
                <a:latin typeface="Arial" charset="0"/>
                <a:ea typeface="ＭＳ Ｐゴシック" charset="0"/>
                <a:cs typeface="ＭＳ Ｐゴシック" charset="0"/>
              </a:rPr>
              <a:t>’ occuparci della progettazione dell’interazione con l’utente?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5360" y="1844824"/>
            <a:ext cx="11305256" cy="4868862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defRPr/>
            </a:pPr>
            <a:endParaRPr lang="it-IT" dirty="0">
              <a:solidFill>
                <a:srgbClr val="19194D"/>
              </a:solidFill>
              <a:latin typeface="Tahoma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pPr algn="just" eaLnBrk="1" hangingPunct="1">
              <a:lnSpc>
                <a:spcPct val="110000"/>
              </a:lnSpc>
              <a:defRPr/>
            </a:pPr>
            <a:r>
              <a:rPr lang="it-IT" dirty="0">
                <a:solidFill>
                  <a:srgbClr val="19194D"/>
                </a:solidFill>
                <a:latin typeface="Tahoma" pitchFamily="-107" charset="0"/>
                <a:ea typeface="ＭＳ Ｐゴシック" pitchFamily="-107" charset="-128"/>
                <a:cs typeface="ＭＳ Ｐゴシック" pitchFamily="-107" charset="-128"/>
              </a:rPr>
              <a:t>Impareremo: </a:t>
            </a:r>
            <a:r>
              <a:rPr lang="it-IT" i="1" dirty="0">
                <a:solidFill>
                  <a:srgbClr val="19194D"/>
                </a:solidFill>
                <a:latin typeface="Tahoma" pitchFamily="-107" charset="0"/>
                <a:ea typeface="ＭＳ Ｐゴシック" pitchFamily="-107" charset="-128"/>
                <a:cs typeface="ＭＳ Ｐゴシック" pitchFamily="-107" charset="-128"/>
              </a:rPr>
              <a:t>principi</a:t>
            </a:r>
            <a:r>
              <a:rPr lang="it-IT" dirty="0">
                <a:solidFill>
                  <a:srgbClr val="19194D"/>
                </a:solidFill>
                <a:latin typeface="Tahoma" pitchFamily="-107" charset="0"/>
                <a:ea typeface="ＭＳ Ｐゴシック" pitchFamily="-107" charset="-128"/>
                <a:cs typeface="ＭＳ Ｐゴシック" pitchFamily="-107" charset="-128"/>
              </a:rPr>
              <a:t>, </a:t>
            </a:r>
            <a:r>
              <a:rPr lang="it-IT" i="1" dirty="0">
                <a:solidFill>
                  <a:srgbClr val="19194D"/>
                </a:solidFill>
                <a:latin typeface="Tahoma" pitchFamily="-107" charset="0"/>
                <a:ea typeface="ＭＳ Ｐゴシック" pitchFamily="-107" charset="-128"/>
                <a:cs typeface="ＭＳ Ｐゴシック" pitchFamily="-107" charset="-128"/>
              </a:rPr>
              <a:t>metodi </a:t>
            </a:r>
            <a:r>
              <a:rPr lang="it-IT" dirty="0">
                <a:solidFill>
                  <a:srgbClr val="19194D"/>
                </a:solidFill>
                <a:latin typeface="Tahoma" pitchFamily="-107" charset="0"/>
                <a:ea typeface="ＭＳ Ｐゴシック" pitchFamily="-107" charset="-128"/>
                <a:cs typeface="ＭＳ Ｐゴシック" pitchFamily="-107" charset="-128"/>
              </a:rPr>
              <a:t>e </a:t>
            </a:r>
            <a:r>
              <a:rPr lang="it-IT" i="1" dirty="0">
                <a:solidFill>
                  <a:srgbClr val="19194D"/>
                </a:solidFill>
                <a:latin typeface="Tahoma" pitchFamily="-107" charset="0"/>
                <a:ea typeface="ＭＳ Ｐゴシック" pitchFamily="-107" charset="-128"/>
                <a:cs typeface="ＭＳ Ｐゴシック" pitchFamily="-107" charset="-128"/>
              </a:rPr>
              <a:t>strumenti  </a:t>
            </a:r>
            <a:r>
              <a:rPr lang="it-IT" dirty="0">
                <a:solidFill>
                  <a:srgbClr val="19194D"/>
                </a:solidFill>
                <a:latin typeface="Tahoma" pitchFamily="-107" charset="0"/>
                <a:ea typeface="ＭＳ Ｐゴシック" pitchFamily="-107" charset="-128"/>
                <a:cs typeface="ＭＳ Ｐゴシック" pitchFamily="-107" charset="-128"/>
              </a:rPr>
              <a:t>che sono alla base della progettazione e sviluppo di interfacce usabili</a:t>
            </a:r>
          </a:p>
          <a:p>
            <a:pPr algn="just" eaLnBrk="1" hangingPunct="1">
              <a:lnSpc>
                <a:spcPct val="110000"/>
              </a:lnSpc>
              <a:buFontTx/>
              <a:buNone/>
              <a:defRPr/>
            </a:pPr>
            <a:endParaRPr lang="it-IT" dirty="0">
              <a:solidFill>
                <a:srgbClr val="19194D"/>
              </a:solidFill>
              <a:latin typeface="Tahoma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pPr algn="just" eaLnBrk="1" hangingPunct="1">
              <a:lnSpc>
                <a:spcPct val="110000"/>
              </a:lnSpc>
              <a:defRPr/>
            </a:pPr>
            <a:r>
              <a:rPr lang="it-IT" dirty="0">
                <a:solidFill>
                  <a:srgbClr val="19194D"/>
                </a:solidFill>
                <a:latin typeface="Tahoma" pitchFamily="-107" charset="0"/>
                <a:ea typeface="ＭＳ Ｐゴシック" pitchFamily="-107" charset="-128"/>
                <a:cs typeface="ＭＳ Ｐゴシック" pitchFamily="-107" charset="-128"/>
              </a:rPr>
              <a:t>Applicheremo questi metodi alla:</a:t>
            </a:r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it-IT" i="1" dirty="0">
                <a:solidFill>
                  <a:srgbClr val="19194D"/>
                </a:solidFill>
                <a:latin typeface="Tahoma" pitchFamily="-107" charset="0"/>
              </a:rPr>
              <a:t>Valutazione </a:t>
            </a:r>
            <a:r>
              <a:rPr lang="it-IT" dirty="0">
                <a:solidFill>
                  <a:srgbClr val="19194D"/>
                </a:solidFill>
                <a:latin typeface="Tahoma" pitchFamily="-107" charset="0"/>
              </a:rPr>
              <a:t>di interfacce esistenti o nuove</a:t>
            </a:r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it-IT" i="1" dirty="0">
                <a:solidFill>
                  <a:srgbClr val="19194D"/>
                </a:solidFill>
                <a:latin typeface="Tahoma" pitchFamily="-107" charset="0"/>
              </a:rPr>
              <a:t>Progettazione </a:t>
            </a:r>
            <a:r>
              <a:rPr lang="it-IT" dirty="0">
                <a:solidFill>
                  <a:srgbClr val="19194D"/>
                </a:solidFill>
                <a:latin typeface="Tahoma" pitchFamily="-107" charset="0"/>
              </a:rPr>
              <a:t>dell’interazione per nuovi casi di studio</a:t>
            </a:r>
            <a:endParaRPr lang="it-IT" sz="2400" dirty="0">
              <a:solidFill>
                <a:srgbClr val="19194D"/>
              </a:solidFill>
              <a:latin typeface="Tahoma" pitchFamily="-107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33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703248-9ED7-1337-CAC5-7E3489E5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tx1"/>
                </a:solidFill>
              </a:rPr>
              <a:t>CFU 4+2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03F9C1-432B-D8AF-ACD2-3EC2EBD4A7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2016524"/>
            <a:ext cx="1071639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Parte teorica (4 CFU)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Fondamenti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principi di UX, usabilità,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affordance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modelli mentali, Norman e Polillo (il tuo riferimento).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 e metodi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user-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centered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design, scenari,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prototipazione, </a:t>
            </a:r>
            <a:r>
              <a:rPr lang="it-IT" altLang="it-IT" sz="1800" dirty="0">
                <a:latin typeface="Arial" panose="020B0604020202020204" pitchFamily="34" charset="0"/>
              </a:rPr>
              <a:t>metodi di ispezione,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      valutazione formativa e sommativa.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Teorie di supporto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ergonomia cognitiva, interazione multimodale, principi di design inclusivo.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Casi studio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analisi di sistemi reali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it-IT" altLang="it-IT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Laboratorio (2 CFU)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Attività pratiche e applicative con strumenti (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Figma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carta e penna, o piccoli prototipi interattivi).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Progetto in gruppo che attraversi l’intero ciclo: analisi utente → idea → prototipo → test.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Esercitazioni guidate: redesign di interfacce esistenti, test di usabilità veloci, storyboards e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wireframes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131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>
                <a:solidFill>
                  <a:srgbClr val="19194D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Materiale del corso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9376" y="1772816"/>
            <a:ext cx="109728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it-IT" sz="2000" dirty="0">
                <a:solidFill>
                  <a:srgbClr val="00009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Slides: su ADA e-learning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it-IT" sz="2000" dirty="0">
              <a:solidFill>
                <a:srgbClr val="0000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it-IT" sz="2000" dirty="0">
                <a:solidFill>
                  <a:srgbClr val="00009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it-IT" sz="2000" dirty="0">
              <a:solidFill>
                <a:srgbClr val="19194D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it-IT" sz="2000" dirty="0">
                <a:solidFill>
                  <a:srgbClr val="19194D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Libro: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it-IT" sz="2000" dirty="0">
                <a:solidFill>
                  <a:srgbClr val="19194D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	</a:t>
            </a:r>
            <a:r>
              <a:rPr lang="it-IT" sz="2000" dirty="0" err="1">
                <a:solidFill>
                  <a:srgbClr val="19194D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R</a:t>
            </a:r>
            <a:r>
              <a:rPr lang="it-IT" sz="2000" dirty="0">
                <a:solidFill>
                  <a:srgbClr val="19194D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. Polillo: Facile da Usare. Apogeo, 2010.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it-IT" sz="2000" dirty="0">
              <a:solidFill>
                <a:srgbClr val="0000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it-IT" sz="2000" dirty="0">
              <a:solidFill>
                <a:srgbClr val="0000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it-IT" sz="2000" dirty="0">
                <a:solidFill>
                  <a:srgbClr val="00009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Altri libri: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it-IT" sz="2000" dirty="0">
                <a:solidFill>
                  <a:srgbClr val="19194D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	</a:t>
            </a:r>
            <a:r>
              <a:rPr lang="it-IT" sz="2000" b="1" dirty="0" err="1">
                <a:solidFill>
                  <a:srgbClr val="19194D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ea typeface="ＭＳ Ｐゴシック" charset="0"/>
                <a:cs typeface="ＭＳ Ｐゴシック" charset="0"/>
              </a:rPr>
              <a:t>J</a:t>
            </a:r>
            <a:r>
              <a:rPr lang="it-IT" sz="2000" b="1" dirty="0" err="1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.Preece</a:t>
            </a:r>
            <a:r>
              <a:rPr lang="it-IT" sz="2000" b="1" dirty="0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, </a:t>
            </a:r>
            <a:r>
              <a:rPr lang="it-IT" sz="2000" b="1" dirty="0" err="1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Y.Rogers</a:t>
            </a:r>
            <a:r>
              <a:rPr lang="it-IT" sz="2000" b="1" dirty="0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, H Sharp: </a:t>
            </a:r>
            <a:r>
              <a:rPr lang="it-IT" sz="2000" b="1" dirty="0" err="1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Interaction</a:t>
            </a:r>
            <a:r>
              <a:rPr lang="it-IT" sz="2000" b="1" dirty="0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 Design. John </a:t>
            </a:r>
            <a:r>
              <a:rPr lang="it-IT" sz="2000" b="1" dirty="0" err="1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Wiley</a:t>
            </a:r>
            <a:r>
              <a:rPr lang="it-IT" sz="2000" b="1" dirty="0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 and </a:t>
            </a:r>
            <a:r>
              <a:rPr lang="it-IT" sz="2000" b="1" dirty="0" err="1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Sons</a:t>
            </a:r>
            <a:endParaRPr lang="it-IT" sz="2000" b="1" dirty="0">
              <a:solidFill>
                <a:srgbClr val="19194D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it-IT" sz="2000" b="1" dirty="0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	A. </a:t>
            </a:r>
            <a:r>
              <a:rPr lang="it-IT" sz="2000" b="1" dirty="0" err="1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Dix</a:t>
            </a:r>
            <a:r>
              <a:rPr lang="it-IT" sz="2000" b="1" dirty="0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, Janet </a:t>
            </a:r>
            <a:r>
              <a:rPr lang="it-IT" sz="2000" b="1" dirty="0" err="1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Finlay</a:t>
            </a:r>
            <a:r>
              <a:rPr lang="it-IT" sz="2000" b="1" dirty="0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, Gregory D. </a:t>
            </a:r>
            <a:r>
              <a:rPr lang="it-IT" sz="2000" b="1" dirty="0" err="1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Abowd,Interazione</a:t>
            </a:r>
            <a:r>
              <a:rPr lang="it-IT" sz="2000" b="1" dirty="0">
                <a:solidFill>
                  <a:srgbClr val="19194D"/>
                </a:solidFill>
                <a:latin typeface="Tahoma" charset="0"/>
                <a:ea typeface="ＭＳ Ｐゴシック" charset="0"/>
                <a:cs typeface="ＭＳ Ｐゴシック" charset="0"/>
              </a:rPr>
              <a:t> uomo-macchina, 2004 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it-IT" sz="2000" b="1" dirty="0">
              <a:solidFill>
                <a:srgbClr val="000090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it-IT" sz="2000" dirty="0">
                <a:solidFill>
                  <a:srgbClr val="000090"/>
                </a:solidFill>
                <a:latin typeface="Tahoma" charset="0"/>
                <a:ea typeface="ＭＳ Ｐゴシック" charset="0"/>
                <a:cs typeface="ＭＳ Ｐゴシック" charset="0"/>
              </a:rPr>
              <a:t>	</a:t>
            </a:r>
            <a:r>
              <a:rPr lang="it-IT" sz="2000" b="1" dirty="0">
                <a:solidFill>
                  <a:srgbClr val="000090"/>
                </a:solidFill>
                <a:latin typeface="Tahoma" charset="0"/>
                <a:ea typeface="ＭＳ Ｐゴシック" charset="0"/>
                <a:cs typeface="ＭＳ Ｐゴシック" charset="0"/>
              </a:rPr>
              <a:t>					Team del corso   						                                       </a:t>
            </a:r>
            <a:r>
              <a:rPr lang="it-IT" dirty="0"/>
              <a:t>nu5ipo5</a:t>
            </a:r>
            <a:endParaRPr lang="it-IT" sz="2000" b="1" dirty="0">
              <a:solidFill>
                <a:srgbClr val="000090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it-IT" sz="2000" dirty="0">
              <a:solidFill>
                <a:srgbClr val="000090"/>
              </a:solidFill>
              <a:latin typeface="Tahoma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9194D"/>
                </a:solidFill>
                <a:latin typeface="Arial" charset="0"/>
                <a:ea typeface="ＭＳ Ｐゴシック" charset="0"/>
                <a:cs typeface="ＭＳ Ｐゴシック" charset="0"/>
              </a:rPr>
              <a:t>Laboratorio – Progetto - Consegne</a:t>
            </a:r>
          </a:p>
        </p:txBody>
      </p:sp>
      <p:sp>
        <p:nvSpPr>
          <p:cNvPr id="20482" name="Segnaposto contenuto 2"/>
          <p:cNvSpPr>
            <a:spLocks noGrp="1"/>
          </p:cNvSpPr>
          <p:nvPr>
            <p:ph idx="1"/>
          </p:nvPr>
        </p:nvSpPr>
        <p:spPr>
          <a:xfrm>
            <a:off x="767408" y="1371601"/>
            <a:ext cx="10972800" cy="4754563"/>
          </a:xfrm>
        </p:spPr>
        <p:txBody>
          <a:bodyPr/>
          <a:lstStyle/>
          <a:p>
            <a:pPr>
              <a:defRPr/>
            </a:pPr>
            <a:r>
              <a:rPr lang="it-IT" dirty="0">
                <a:solidFill>
                  <a:srgbClr val="19194D"/>
                </a:solidFill>
                <a:latin typeface="Arial" charset="0"/>
                <a:ea typeface="ＭＳ Ｐゴシック" charset="0"/>
                <a:cs typeface="ＭＳ Ｐゴシック" charset="0"/>
              </a:rPr>
              <a:t>Progettazione, Sviluppo/Prototipo e Valutazione dell’interfaccia di un sistema interattivo</a:t>
            </a:r>
          </a:p>
          <a:p>
            <a:pPr>
              <a:defRPr/>
            </a:pPr>
            <a:endParaRPr lang="it-IT" sz="2000" dirty="0">
              <a:solidFill>
                <a:srgbClr val="19194D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it-IT" dirty="0">
                <a:solidFill>
                  <a:srgbClr val="19194D"/>
                </a:solidFill>
                <a:latin typeface="Arial" charset="0"/>
                <a:ea typeface="ＭＳ Ｐゴシック" charset="0"/>
                <a:cs typeface="ＭＳ Ｐゴシック" charset="0"/>
              </a:rPr>
              <a:t>Progetti di gruppo: assegnati dal docente prima di iniziare il laboratorio </a:t>
            </a:r>
          </a:p>
          <a:p>
            <a:pPr marL="0" indent="0">
              <a:buNone/>
              <a:defRPr/>
            </a:pPr>
            <a:r>
              <a:rPr lang="it-IT" dirty="0">
                <a:solidFill>
                  <a:srgbClr val="19194D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</a:p>
          <a:p>
            <a:pPr marL="0" indent="0">
              <a:buNone/>
              <a:defRPr/>
            </a:pPr>
            <a:endParaRPr lang="it-IT" sz="2800" dirty="0">
              <a:solidFill>
                <a:srgbClr val="19194D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marL="0" indent="0">
              <a:buNone/>
              <a:defRPr/>
            </a:pPr>
            <a:r>
              <a:rPr lang="it-IT" dirty="0">
                <a:solidFill>
                  <a:srgbClr val="19194D"/>
                </a:solidFill>
                <a:latin typeface="Arial" charset="0"/>
                <a:ea typeface="ＭＳ Ｐゴシック" charset="0"/>
                <a:cs typeface="ＭＳ Ｐゴシック" charset="0"/>
              </a:rPr>
              <a:t>Esercitazioni: si possono svolgere sia in gruppo che individualmente – consegna su teams</a:t>
            </a:r>
          </a:p>
          <a:p>
            <a:pPr marL="0" indent="0">
              <a:buNone/>
              <a:defRPr/>
            </a:pPr>
            <a:endParaRPr lang="it-IT" dirty="0">
              <a:solidFill>
                <a:srgbClr val="19194D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Rettangolo 1"/>
          <p:cNvSpPr/>
          <p:nvPr/>
        </p:nvSpPr>
        <p:spPr>
          <a:xfrm>
            <a:off x="2927648" y="4077072"/>
            <a:ext cx="568325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buClr>
                <a:srgbClr val="FFFF00"/>
              </a:buClr>
              <a:defRPr/>
            </a:pPr>
            <a:r>
              <a:rPr lang="it-IT" sz="2800" dirty="0">
                <a:solidFill>
                  <a:srgbClr val="19194D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Gruppi= da 3 a 5 persone max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043113" y="57150"/>
            <a:ext cx="8229600" cy="850900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>
                <a:solidFill>
                  <a:srgbClr val="19194D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rPr>
              <a:t>Programma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908720"/>
            <a:ext cx="9863935" cy="4784725"/>
          </a:xfrm>
          <a:effectLst>
            <a:outerShdw blurRad="63500" dist="53882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Modulo 1: Introduzione all’Interazione Uomo-Macchina</a:t>
            </a:r>
          </a:p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Modulo 2: Paradigmi e Tecnologie di Interazione</a:t>
            </a:r>
          </a:p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Modulo 3:  Usabilità e UX</a:t>
            </a:r>
          </a:p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Modulo 4:  Conoscere l’utente</a:t>
            </a:r>
          </a:p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Modulo 5: Progettare per l’utente</a:t>
            </a:r>
          </a:p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Modulo 6: L’ingegneria della usabilità</a:t>
            </a:r>
          </a:p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Modulo 7: I requisiti</a:t>
            </a:r>
          </a:p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Modulo 8: I prototipi</a:t>
            </a:r>
          </a:p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Modulo 9: Principi e linee guida</a:t>
            </a:r>
          </a:p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Modulo 10: Progettare per l’errore</a:t>
            </a:r>
          </a:p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Modulo 11: Progettare il testo</a:t>
            </a:r>
          </a:p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Modulo 12: Progettare la grafica</a:t>
            </a:r>
          </a:p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Modulo 13: Valutare l’usabilità</a:t>
            </a:r>
          </a:p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Parleremo di Design thinking</a:t>
            </a:r>
          </a:p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Parleremo di AI x PIU</a:t>
            </a:r>
          </a:p>
          <a:p>
            <a:pPr eaLnBrk="1" hangingPunct="1">
              <a:buClr>
                <a:srgbClr val="FFFF00"/>
              </a:buClr>
              <a:defRPr/>
            </a:pPr>
            <a:r>
              <a:rPr lang="it-IT" sz="2000" dirty="0">
                <a:solidFill>
                  <a:schemeClr val="accent2"/>
                </a:solidFill>
                <a:latin typeface="Arial" charset="0"/>
                <a:ea typeface="ＭＳ Ｐゴシック" charset="0"/>
                <a:cs typeface="ＭＳ Ｐゴシック" charset="0"/>
              </a:rPr>
              <a:t>Parleremo di Design delle Interfacce Conversazionali</a:t>
            </a:r>
          </a:p>
          <a:p>
            <a:pPr marL="0" indent="0" eaLnBrk="1" hangingPunct="1">
              <a:buClr>
                <a:srgbClr val="FFFF00"/>
              </a:buClr>
              <a:buNone/>
              <a:defRPr/>
            </a:pPr>
            <a:endParaRPr lang="it-IT" sz="2000" dirty="0">
              <a:solidFill>
                <a:schemeClr val="accent2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81200" y="71430"/>
            <a:ext cx="8229600" cy="1143000"/>
          </a:xfrm>
        </p:spPr>
        <p:txBody>
          <a:bodyPr/>
          <a:lstStyle/>
          <a:p>
            <a:r>
              <a:rPr lang="it-IT" dirty="0">
                <a:solidFill>
                  <a:schemeClr val="tx1"/>
                </a:solidFill>
              </a:rPr>
              <a:t>Modulo 1: Introduzione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919536" y="1092200"/>
            <a:ext cx="8568952" cy="5765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it-IT" b="1" dirty="0"/>
              <a:t>Interfacce utente </a:t>
            </a:r>
          </a:p>
          <a:p>
            <a:pPr marL="0" indent="0" algn="just">
              <a:buNone/>
            </a:pPr>
            <a:r>
              <a:rPr lang="it-IT" dirty="0"/>
              <a:t>-   Definizioni</a:t>
            </a:r>
          </a:p>
          <a:p>
            <a:pPr algn="just">
              <a:buFontTx/>
              <a:buChar char="-"/>
            </a:pPr>
            <a:r>
              <a:rPr lang="it-IT" dirty="0"/>
              <a:t> Storia della loro evoluzione</a:t>
            </a:r>
          </a:p>
          <a:p>
            <a:pPr marL="0" indent="0" algn="just">
              <a:buNone/>
            </a:pPr>
            <a:r>
              <a:rPr lang="it-IT" dirty="0"/>
              <a:t>-   Usabilità delle interfacce utente</a:t>
            </a:r>
          </a:p>
          <a:p>
            <a:pPr algn="just">
              <a:buFontTx/>
              <a:buChar char="-"/>
            </a:pPr>
            <a:r>
              <a:rPr lang="it-IT" dirty="0"/>
              <a:t> Modello di interazione di Norman</a:t>
            </a:r>
          </a:p>
        </p:txBody>
      </p:sp>
    </p:spTree>
    <p:extLst>
      <p:ext uri="{BB962C8B-B14F-4D97-AF65-F5344CB8AC3E}">
        <p14:creationId xmlns:p14="http://schemas.microsoft.com/office/powerpoint/2010/main" val="2297364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sz="6000">
                <a:latin typeface="Arial" charset="0"/>
                <a:ea typeface="ＭＳ Ｐゴシック" charset="0"/>
                <a:cs typeface="ＭＳ Ｐゴシック" charset="0"/>
              </a:rPr>
              <a:t>From the SIGCHI Website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199456" y="1379538"/>
            <a:ext cx="9865096" cy="55054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accent6"/>
                </a:solidFill>
                <a:latin typeface="Arial" charset="0"/>
              </a:rPr>
              <a:t>SIGCHI (Special Interest Group on Computer Human Interaction)</a:t>
            </a:r>
          </a:p>
          <a:p>
            <a:pPr marL="0" indent="0" eaLnBrk="1" hangingPunct="1">
              <a:buNone/>
              <a:defRPr/>
            </a:pPr>
            <a:r>
              <a:rPr lang="en-US" dirty="0">
                <a:solidFill>
                  <a:schemeClr val="accent6"/>
                </a:solidFill>
                <a:latin typeface="Arial" charset="0"/>
              </a:rPr>
              <a:t>HCI is…</a:t>
            </a:r>
          </a:p>
          <a:p>
            <a:pPr lvl="1" eaLnBrk="1" hangingPunct="1">
              <a:defRPr/>
            </a:pPr>
            <a:r>
              <a:rPr lang="en-US" dirty="0">
                <a:solidFill>
                  <a:schemeClr val="accent6"/>
                </a:solidFill>
                <a:latin typeface="Arial" charset="0"/>
                <a:ea typeface="ＭＳ Ｐゴシック" charset="0"/>
              </a:rPr>
              <a:t>An inter-disciplinary discipline (engineering, CS, psychology, graphic design, ergonomics, etc.)</a:t>
            </a:r>
          </a:p>
          <a:p>
            <a:pPr lvl="1" eaLnBrk="1" hangingPunct="1">
              <a:defRPr/>
            </a:pPr>
            <a:r>
              <a:rPr lang="en-US" dirty="0">
                <a:solidFill>
                  <a:schemeClr val="accent6"/>
                </a:solidFill>
                <a:latin typeface="Arial" charset="0"/>
                <a:ea typeface="ＭＳ Ｐゴシック" charset="0"/>
              </a:rPr>
              <a:t>Concerned with design, evaluation, and implementation</a:t>
            </a:r>
          </a:p>
          <a:p>
            <a:pPr lvl="1" eaLnBrk="1" hangingPunct="1">
              <a:defRPr/>
            </a:pPr>
            <a:r>
              <a:rPr lang="en-US" dirty="0">
                <a:solidFill>
                  <a:schemeClr val="accent6"/>
                </a:solidFill>
                <a:latin typeface="Arial" charset="0"/>
                <a:ea typeface="ＭＳ Ｐゴシック" charset="0"/>
              </a:rPr>
              <a:t>Addresses people</a:t>
            </a:r>
            <a:r>
              <a:rPr lang="ja-JP" altLang="en-US" dirty="0">
                <a:solidFill>
                  <a:schemeClr val="accent6"/>
                </a:solidFill>
                <a:latin typeface="Arial" charset="0"/>
                <a:ea typeface="ＭＳ Ｐゴシック" charset="0"/>
              </a:rPr>
              <a:t>’</a:t>
            </a:r>
            <a:r>
              <a:rPr lang="en-US" dirty="0">
                <a:solidFill>
                  <a:schemeClr val="accent6"/>
                </a:solidFill>
                <a:latin typeface="Arial" charset="0"/>
                <a:ea typeface="ＭＳ Ｐゴシック" charset="0"/>
              </a:rPr>
              <a:t>s needs, capabilities, limitations</a:t>
            </a:r>
          </a:p>
        </p:txBody>
      </p:sp>
      <p:sp>
        <p:nvSpPr>
          <p:cNvPr id="22531" name="CasellaDiTesto 1"/>
          <p:cNvSpPr txBox="1">
            <a:spLocks noChangeArrowheads="1"/>
          </p:cNvSpPr>
          <p:nvPr/>
        </p:nvSpPr>
        <p:spPr bwMode="auto">
          <a:xfrm>
            <a:off x="2208214" y="476251"/>
            <a:ext cx="77755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it-IT" sz="4000" b="1" dirty="0">
                <a:solidFill>
                  <a:srgbClr val="FF0000"/>
                </a:solidFill>
              </a:rPr>
              <a:t>Cosa e’ HCI?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sz="4200" dirty="0">
                <a:solidFill>
                  <a:srgbClr val="2D2D8A"/>
                </a:solidFill>
                <a:latin typeface="Arial" charset="0"/>
                <a:ea typeface="ＭＳ Ｐゴシック" charset="0"/>
                <a:cs typeface="ＭＳ Ｐゴシック" charset="0"/>
              </a:rPr>
              <a:t>SIGCHI curriculum definition site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79376" y="1196752"/>
            <a:ext cx="5904656" cy="4464495"/>
          </a:xfrm>
        </p:spPr>
        <p:txBody>
          <a:bodyPr/>
          <a:lstStyle/>
          <a:p>
            <a:pPr algn="just" eaLnBrk="1" hangingPunct="1"/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just" eaLnBrk="1" hangingPunct="1">
              <a:buFontTx/>
              <a:buNone/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	Human-computer interaction is a discipline concerned with the design, evaluation and implementation of interactive computing systems for human use and with the study of major phenomena surrounding them. </a:t>
            </a:r>
          </a:p>
        </p:txBody>
      </p:sp>
      <p:pic>
        <p:nvPicPr>
          <p:cNvPr id="1026" name="Picture 2" descr="Image result for interazione uomo macchina immagini">
            <a:extLst>
              <a:ext uri="{FF2B5EF4-FFF2-40B4-BE49-F238E27FC236}">
                <a16:creationId xmlns:a16="http://schemas.microsoft.com/office/drawing/2014/main" id="{CECACF2C-669A-4126-BFE2-B7230187A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910" y="2027313"/>
            <a:ext cx="5468770" cy="370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979034-5237-4F06-9946-90277528F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969BD-BDFA-4270-B889-376F34872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56A66E-9687-49CF-A8A2-646D43267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23875"/>
            <a:ext cx="6096000" cy="581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131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GB" dirty="0">
                <a:solidFill>
                  <a:srgbClr val="2D2D8A"/>
                </a:solidFill>
                <a:latin typeface="Arial" charset="0"/>
                <a:ea typeface="ＭＳ Ｐゴシック" charset="0"/>
                <a:cs typeface="ＭＳ Ｐゴシック" charset="0"/>
              </a:rPr>
              <a:t>Cosa e’ </a:t>
            </a:r>
            <a:r>
              <a:rPr lang="en-GB" dirty="0" err="1">
                <a:solidFill>
                  <a:srgbClr val="2D2D8A"/>
                </a:solidFill>
                <a:latin typeface="Arial" charset="0"/>
                <a:ea typeface="ＭＳ Ｐゴシック" charset="0"/>
                <a:cs typeface="ＭＳ Ｐゴシック" charset="0"/>
              </a:rPr>
              <a:t>una</a:t>
            </a:r>
            <a:r>
              <a:rPr lang="en-GB" dirty="0">
                <a:solidFill>
                  <a:srgbClr val="2D2D8A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GB" dirty="0" err="1">
                <a:solidFill>
                  <a:srgbClr val="2D2D8A"/>
                </a:solidFill>
                <a:latin typeface="Arial" charset="0"/>
                <a:ea typeface="ＭＳ Ｐゴシック" charset="0"/>
                <a:cs typeface="ＭＳ Ｐゴシック" charset="0"/>
              </a:rPr>
              <a:t>interfaccia</a:t>
            </a:r>
            <a:r>
              <a:rPr lang="en-GB" dirty="0">
                <a:solidFill>
                  <a:srgbClr val="2D2D8A"/>
                </a:solidFill>
                <a:latin typeface="Arial" charset="0"/>
                <a:ea typeface="ＭＳ Ｐゴシック" charset="0"/>
                <a:cs typeface="ＭＳ Ｐゴシック" charset="0"/>
              </a:rPr>
              <a:t>?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GB" sz="9600" dirty="0">
                <a:latin typeface="Arial" charset="0"/>
                <a:ea typeface="ＭＳ Ｐゴシック" charset="0"/>
                <a:cs typeface="ＭＳ Ｐゴシック" charset="0"/>
              </a:rPr>
              <a:t>					    ?</a:t>
            </a:r>
            <a:endParaRPr lang="en-GB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GB" dirty="0">
                <a:solidFill>
                  <a:srgbClr val="2D2D8A"/>
                </a:solidFill>
                <a:latin typeface="Arial" charset="0"/>
                <a:ea typeface="ＭＳ Ｐゴシック" charset="0"/>
                <a:cs typeface="ＭＳ Ｐゴシック" charset="0"/>
              </a:rPr>
              <a:t>Evolution of HCI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767408" y="1628800"/>
            <a:ext cx="10945216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400" b="1" dirty="0">
                <a:latin typeface="Arial" charset="0"/>
                <a:ea typeface="ＭＳ Ｐゴシック" charset="0"/>
                <a:cs typeface="ＭＳ Ｐゴシック" charset="0"/>
              </a:rPr>
              <a:t>50s</a:t>
            </a: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 - Interface at the hardware level for engineers - switch panels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b="1" dirty="0">
                <a:latin typeface="Arial" charset="0"/>
                <a:ea typeface="ＭＳ Ｐゴシック" charset="0"/>
                <a:cs typeface="ＭＳ Ｐゴシック" charset="0"/>
              </a:rPr>
              <a:t>60-70s</a:t>
            </a: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 - interface at the programming level - COBOL, FORTRAN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b="1" dirty="0">
                <a:latin typeface="Arial" charset="0"/>
                <a:ea typeface="ＭＳ Ｐゴシック" charset="0"/>
                <a:cs typeface="ＭＳ Ｐゴシック" charset="0"/>
              </a:rPr>
              <a:t>70-90s</a:t>
            </a: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 - Interface at the terminal level - command languages 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b="1" dirty="0">
                <a:latin typeface="Arial" charset="0"/>
                <a:ea typeface="ＭＳ Ｐゴシック" charset="0"/>
                <a:cs typeface="ＭＳ Ｐゴシック" charset="0"/>
              </a:rPr>
              <a:t>80s</a:t>
            </a: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 - Interface at the interaction dialogue level - GUIs, multimedia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b="1" dirty="0">
                <a:latin typeface="Arial" charset="0"/>
                <a:ea typeface="ＭＳ Ｐゴシック" charset="0"/>
                <a:cs typeface="ＭＳ Ｐゴシック" charset="0"/>
              </a:rPr>
              <a:t>90s</a:t>
            </a: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 - Interface at the work setting - networked systems, groupware 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b="1" dirty="0">
                <a:latin typeface="Arial" charset="0"/>
                <a:ea typeface="ＭＳ Ｐゴシック" charset="0"/>
                <a:cs typeface="ＭＳ Ｐゴシック" charset="0"/>
              </a:rPr>
              <a:t>00s</a:t>
            </a: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 - Interface becomes pervasive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dirty="0">
                <a:latin typeface="Arial" charset="0"/>
                <a:ea typeface="ＭＳ Ｐゴシック" charset="0"/>
              </a:rPr>
              <a:t>RF tags, Bluetooth technology, mobile devices, consumer electronics, interactive screens, embedded technology, information appliances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GB" dirty="0">
                <a:solidFill>
                  <a:srgbClr val="2D2D8A"/>
                </a:solidFill>
                <a:latin typeface="Arial" charset="0"/>
                <a:ea typeface="ＭＳ Ｐゴシック" charset="0"/>
                <a:cs typeface="ＭＳ Ｐゴシック" charset="0"/>
              </a:rPr>
              <a:t>Evolution of HCI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2210420" y="1844824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400" b="1" dirty="0">
                <a:latin typeface="Arial" charset="0"/>
                <a:ea typeface="ＭＳ Ｐゴシック" charset="0"/>
                <a:cs typeface="ＭＳ Ｐゴシック" charset="0"/>
              </a:rPr>
              <a:t>Now</a:t>
            </a: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 - ????</a:t>
            </a:r>
            <a:endParaRPr lang="en-GB" sz="2400" dirty="0">
              <a:latin typeface="Arial" charset="0"/>
              <a:ea typeface="ＭＳ Ｐゴシック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sz="2400" dirty="0"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883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i="1">
                <a:solidFill>
                  <a:srgbClr val="19194D"/>
                </a:solidFill>
                <a:latin typeface="Arial" charset="0"/>
                <a:ea typeface="ＭＳ Ｐゴシック" charset="0"/>
                <a:cs typeface="ＭＳ Ｐゴシック" charset="0"/>
              </a:rPr>
              <a:t>Good Design</a:t>
            </a:r>
          </a:p>
        </p:txBody>
      </p:sp>
      <p:sp>
        <p:nvSpPr>
          <p:cNvPr id="32770" name="Segnaposto contenut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>
                <a:solidFill>
                  <a:srgbClr val="19194D"/>
                </a:solidFill>
                <a:latin typeface="Comic Sans MS" charset="0"/>
                <a:ea typeface="ＭＳ Ｐゴシック" charset="0"/>
                <a:cs typeface="Comic Sans MS" charset="0"/>
              </a:rPr>
              <a:t>Human</a:t>
            </a:r>
          </a:p>
          <a:p>
            <a:r>
              <a:rPr lang="it-IT">
                <a:solidFill>
                  <a:srgbClr val="19194D"/>
                </a:solidFill>
                <a:latin typeface="Comic Sans MS" charset="0"/>
                <a:ea typeface="ＭＳ Ｐゴシック" charset="0"/>
                <a:cs typeface="Comic Sans MS" charset="0"/>
              </a:rPr>
              <a:t>Computer</a:t>
            </a:r>
          </a:p>
          <a:p>
            <a:r>
              <a:rPr lang="it-IT">
                <a:solidFill>
                  <a:srgbClr val="19194D"/>
                </a:solidFill>
                <a:latin typeface="Comic Sans MS" charset="0"/>
                <a:ea typeface="ＭＳ Ｐゴシック" charset="0"/>
                <a:cs typeface="Comic Sans MS" charset="0"/>
              </a:rPr>
              <a:t>Interaction</a:t>
            </a:r>
          </a:p>
        </p:txBody>
      </p:sp>
      <p:graphicFrame>
        <p:nvGraphicFramePr>
          <p:cNvPr id="6" name="Diagramma 5"/>
          <p:cNvGraphicFramePr/>
          <p:nvPr>
            <p:extLst>
              <p:ext uri="{D42A27DB-BD31-4B8C-83A1-F6EECF244321}">
                <p14:modId xmlns:p14="http://schemas.microsoft.com/office/powerpoint/2010/main" val="996666439"/>
              </p:ext>
            </p:extLst>
          </p:nvPr>
        </p:nvGraphicFramePr>
        <p:xfrm>
          <a:off x="3503712" y="1196752"/>
          <a:ext cx="8688288" cy="5661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siglio per creare una User Interface efficace">
            <a:extLst>
              <a:ext uri="{FF2B5EF4-FFF2-40B4-BE49-F238E27FC236}">
                <a16:creationId xmlns:a16="http://schemas.microsoft.com/office/drawing/2014/main" id="{F6A9AB26-FE1C-D628-8F7D-B744E084F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650" y="933047"/>
            <a:ext cx="11950700" cy="499190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798411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9C9F04-E7C8-CE1A-01E6-BFA8D9C4D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tx1"/>
                </a:solidFill>
              </a:rPr>
              <a:t>Alcuni Esempi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3CD03F-C1B0-8986-EA86-AE5834298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3CA7A5E-6DEE-C7BD-EB20-823B95E5B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6" y="0"/>
            <a:ext cx="3334703" cy="6858000"/>
          </a:xfrm>
          <a:prstGeom prst="rect">
            <a:avLst/>
          </a:prstGeom>
        </p:spPr>
      </p:pic>
      <p:pic>
        <p:nvPicPr>
          <p:cNvPr id="1028" name="Picture 4" descr="Errore 1 di UI: Pittogrammi troppo simili sul telecomando">
            <a:extLst>
              <a:ext uri="{FF2B5EF4-FFF2-40B4-BE49-F238E27FC236}">
                <a16:creationId xmlns:a16="http://schemas.microsoft.com/office/drawing/2014/main" id="{1F17FFBA-F914-13DB-EFA3-8DF37F2D5E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7" t="292" r="3818" b="-292"/>
          <a:stretch/>
        </p:blipFill>
        <p:spPr bwMode="auto">
          <a:xfrm>
            <a:off x="4079775" y="20024"/>
            <a:ext cx="84348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1EA85FF-61C5-20D0-0EC8-A9EF1FF11AAE}"/>
              </a:ext>
            </a:extLst>
          </p:cNvPr>
          <p:cNvSpPr txBox="1"/>
          <p:nvPr/>
        </p:nvSpPr>
        <p:spPr>
          <a:xfrm>
            <a:off x="335360" y="6237312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chemeClr val="bg2"/>
                </a:solidFill>
              </a:rPr>
              <a:t>Bad</a:t>
            </a:r>
            <a:r>
              <a:rPr lang="it-IT" dirty="0">
                <a:solidFill>
                  <a:schemeClr val="bg2"/>
                </a:solidFill>
              </a:rPr>
              <a:t> and Good </a:t>
            </a:r>
            <a:r>
              <a:rPr lang="it-IT" dirty="0" err="1">
                <a:solidFill>
                  <a:schemeClr val="bg2"/>
                </a:solidFill>
              </a:rPr>
              <a:t>Interfaces</a:t>
            </a:r>
            <a:endParaRPr lang="it-IT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0458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Struttura predefinita">
  <a:themeElements>
    <a:clrScheme name="Struttura predefinita 14">
      <a:dk1>
        <a:srgbClr val="333399"/>
      </a:dk1>
      <a:lt1>
        <a:srgbClr val="FFFFFF"/>
      </a:lt1>
      <a:dk2>
        <a:srgbClr val="FFFFFF"/>
      </a:dk2>
      <a:lt2>
        <a:srgbClr val="FFFF66"/>
      </a:lt2>
      <a:accent1>
        <a:srgbClr val="BBE0E3"/>
      </a:accent1>
      <a:accent2>
        <a:srgbClr val="333399"/>
      </a:accent2>
      <a:accent3>
        <a:srgbClr val="FFFFFF"/>
      </a:accent3>
      <a:accent4>
        <a:srgbClr val="2A2A82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ruttura predefin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3">
        <a:dk1>
          <a:srgbClr val="333399"/>
        </a:dk1>
        <a:lt1>
          <a:srgbClr val="FFFFFF"/>
        </a:lt1>
        <a:dk2>
          <a:srgbClr val="FFFFFF"/>
        </a:dk2>
        <a:lt2>
          <a:srgbClr val="CCFFCC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2A2A82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14">
        <a:dk1>
          <a:srgbClr val="333399"/>
        </a:dk1>
        <a:lt1>
          <a:srgbClr val="FFFFFF"/>
        </a:lt1>
        <a:dk2>
          <a:srgbClr val="FFFFFF"/>
        </a:dk2>
        <a:lt2>
          <a:srgbClr val="FFFF66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2A2A82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E222CDAE6BCE444981702452B1A65D0" ma:contentTypeVersion="3" ma:contentTypeDescription="Creare un nuovo documento." ma:contentTypeScope="" ma:versionID="e7f9cc1e3b3e27644cf98f54c9894fe7">
  <xsd:schema xmlns:xsd="http://www.w3.org/2001/XMLSchema" xmlns:xs="http://www.w3.org/2001/XMLSchema" xmlns:p="http://schemas.microsoft.com/office/2006/metadata/properties" xmlns:ns2="05c543e5-0652-43fe-a7e7-24162ac53c76" targetNamespace="http://schemas.microsoft.com/office/2006/metadata/properties" ma:root="true" ma:fieldsID="472b2ea20ccd6dc0c460734c81e26bf1" ns2:_="">
    <xsd:import namespace="05c543e5-0652-43fe-a7e7-24162ac53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c543e5-0652-43fe-a7e7-24162ac53c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4D58281-BE47-4895-8C7A-697A543065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FF9B91-148C-4779-A019-4A9CF25DFA96}"/>
</file>

<file path=customXml/itemProps3.xml><?xml version="1.0" encoding="utf-8"?>
<ds:datastoreItem xmlns:ds="http://schemas.openxmlformats.org/officeDocument/2006/customXml" ds:itemID="{37FDB18E-74B0-4434-869B-5DDC832B6FD0}">
  <ds:schemaRefs>
    <ds:schemaRef ds:uri="http://purl.org/dc/dcmitype/"/>
    <ds:schemaRef ds:uri="cc124aa9-78b2-4f33-a9e1-14b5b2a6320d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84b1ed1a-7bd0-434a-993f-13bf9658f996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8305</TotalTime>
  <Words>740</Words>
  <Application>Microsoft Office PowerPoint</Application>
  <PresentationFormat>Widescreen</PresentationFormat>
  <Paragraphs>118</Paragraphs>
  <Slides>18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5" baseType="lpstr">
      <vt:lpstr>Arial</vt:lpstr>
      <vt:lpstr>Calibri</vt:lpstr>
      <vt:lpstr>Comic Sans MS</vt:lpstr>
      <vt:lpstr>Tahoma</vt:lpstr>
      <vt:lpstr>Times</vt:lpstr>
      <vt:lpstr>Vollkorn</vt:lpstr>
      <vt:lpstr>Struttura predefinita</vt:lpstr>
      <vt:lpstr>Progettazione dell’Interazione con l’Utente  </vt:lpstr>
      <vt:lpstr>Introduzione</vt:lpstr>
      <vt:lpstr>Perche’ occuparci della progettazione dell’interazione con l’utente?</vt:lpstr>
      <vt:lpstr>Perche’ occuparci della progettazione dell’interazione con l’utente?</vt:lpstr>
      <vt:lpstr>CFU 4+2</vt:lpstr>
      <vt:lpstr>Materiale del corso</vt:lpstr>
      <vt:lpstr>Laboratorio – Progetto - Consegne</vt:lpstr>
      <vt:lpstr>Programma</vt:lpstr>
      <vt:lpstr>Modulo 1: Introduzione</vt:lpstr>
      <vt:lpstr>From the SIGCHI Website</vt:lpstr>
      <vt:lpstr>SIGCHI curriculum definition site</vt:lpstr>
      <vt:lpstr>Presentazione standard di PowerPoint</vt:lpstr>
      <vt:lpstr>Cosa e’ una interfaccia?</vt:lpstr>
      <vt:lpstr>Evolution of HCI</vt:lpstr>
      <vt:lpstr>Evolution of HCI</vt:lpstr>
      <vt:lpstr>Good Design</vt:lpstr>
      <vt:lpstr>Presentazione standard di PowerPoint</vt:lpstr>
      <vt:lpstr>Alcuni Esempi</vt:lpstr>
    </vt:vector>
  </TitlesOfParts>
  <Company>Università di Bari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Didattica dell’Interazione Uomo Macchina</dc:title>
  <dc:creator>Dipartimento di Informatica</dc:creator>
  <cp:lastModifiedBy>BERARDINA DE CAROLIS</cp:lastModifiedBy>
  <cp:revision>83</cp:revision>
  <cp:lastPrinted>2013-10-04T11:08:14Z</cp:lastPrinted>
  <dcterms:created xsi:type="dcterms:W3CDTF">2012-10-08T15:13:48Z</dcterms:created>
  <dcterms:modified xsi:type="dcterms:W3CDTF">2025-09-29T16:12:39Z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0x010100AE222CDAE6BCE444981702452B1A65D0</vt:lpwstr>
  </property>
</Properties>
</file>